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Arimo SemiBold"/>
      <p:regular r:id="rId19"/>
      <p:bold r:id="rId20"/>
      <p:italic r:id="rId21"/>
      <p:boldItalic r:id="rId22"/>
    </p:embeddedFont>
    <p:embeddedFont>
      <p:font typeface="Arim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bold.fntdata"/><Relationship Id="rId22" Type="http://schemas.openxmlformats.org/officeDocument/2006/relationships/font" Target="fonts/ArimoSemiBold-boldItalic.fntdata"/><Relationship Id="rId21" Type="http://schemas.openxmlformats.org/officeDocument/2006/relationships/font" Target="fonts/ArimoSemiBold-italic.fntdata"/><Relationship Id="rId24" Type="http://schemas.openxmlformats.org/officeDocument/2006/relationships/font" Target="fonts/ArimoMedium-bold.fntdata"/><Relationship Id="rId23" Type="http://schemas.openxmlformats.org/officeDocument/2006/relationships/font" Target="fonts/Arim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Medium-boldItalic.fntdata"/><Relationship Id="rId25" Type="http://schemas.openxmlformats.org/officeDocument/2006/relationships/font" Target="fonts/Arim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Arimo-regular.fntdata"/><Relationship Id="rId14" Type="http://schemas.openxmlformats.org/officeDocument/2006/relationships/slide" Target="slides/slide9.xml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19" Type="http://schemas.openxmlformats.org/officeDocument/2006/relationships/font" Target="fonts/ArimoSemiBold-regular.fntdata"/><Relationship Id="rId18" Type="http://schemas.openxmlformats.org/officeDocument/2006/relationships/font" Target="fonts/Arim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bcae6e4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bcae6e4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bcae6e4fd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bcae6e4fd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bcae6e4fd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bcae6e4fd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bcae6e4fd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cbcae6e4fd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bcae6e4fd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cbcae6e4fd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bcae6e4fd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cbcae6e4fd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bcae6e4fd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cbcae6e4fd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bcae6e4fd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cbcae6e4fd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cbcae6e4fd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cbcae6e4fd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1" type="subTitle"/>
          </p:nvPr>
        </p:nvSpPr>
        <p:spPr>
          <a:xfrm>
            <a:off x="805554" y="40698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Admission Data Validation &amp; Compliance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44"/>
          <p:cNvSpPr txBox="1"/>
          <p:nvPr>
            <p:ph type="title"/>
          </p:nvPr>
        </p:nvSpPr>
        <p:spPr>
          <a:xfrm>
            <a:off x="805550" y="2616675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600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admitGuard</a:t>
            </a:r>
            <a:endParaRPr sz="6000"/>
          </a:p>
        </p:txBody>
      </p:sp>
      <p:pic>
        <p:nvPicPr>
          <p:cNvPr id="354" name="Google Shape;3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025" y="1650502"/>
            <a:ext cx="2386500" cy="35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45"/>
          <p:cNvSpPr txBox="1"/>
          <p:nvPr>
            <p:ph type="title"/>
          </p:nvPr>
        </p:nvSpPr>
        <p:spPr>
          <a:xfrm>
            <a:off x="625375" y="2731850"/>
            <a:ext cx="70359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61" name="Google Shape;361;p45" title="Project AdmitGuard - visual selection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587" y="0"/>
            <a:ext cx="612682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46" title="Project AdmitGuard - visual selection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75" y="277500"/>
            <a:ext cx="8146684" cy="458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47" title="Project AdmitGuard - visual selectio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870" y="0"/>
            <a:ext cx="472626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8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48" title="Project AdmitGuard - visual 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488" y="111287"/>
            <a:ext cx="6587025" cy="492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49" title="wireframe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462" y="299963"/>
            <a:ext cx="3483076" cy="45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0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50" title="Screenshot from 2026-02-28 04-20-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00" y="304800"/>
            <a:ext cx="4766198" cy="26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0" title="Screenshot from 2026-02-28 04-20-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9380" y="2391775"/>
            <a:ext cx="4293655" cy="24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1"/>
          <p:cNvSpPr txBox="1"/>
          <p:nvPr>
            <p:ph type="title"/>
          </p:nvPr>
        </p:nvSpPr>
        <p:spPr>
          <a:xfrm>
            <a:off x="1215900" y="1056450"/>
            <a:ext cx="6712200" cy="303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Limitations &amp; Next Steps</a:t>
            </a:r>
            <a:endParaRPr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-"/>
            </a:pPr>
            <a:r>
              <a:rPr lang="en" sz="2400">
                <a:solidFill>
                  <a:schemeClr val="lt2"/>
                </a:solidFill>
              </a:rPr>
              <a:t>Authentication and user roles</a:t>
            </a:r>
            <a:endParaRPr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-"/>
            </a:pPr>
            <a:r>
              <a:rPr lang="en" sz="2400">
                <a:solidFill>
                  <a:schemeClr val="lt2"/>
                </a:solidFill>
              </a:rPr>
              <a:t>Backend server and robust database for storing and retrieving data</a:t>
            </a:r>
            <a:endParaRPr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-"/>
            </a:pPr>
            <a:r>
              <a:rPr lang="en" sz="2400">
                <a:solidFill>
                  <a:schemeClr val="lt2"/>
                </a:solidFill>
              </a:rPr>
              <a:t>Further improve the UI/UX </a:t>
            </a:r>
            <a:endParaRPr sz="2400">
              <a:solidFill>
                <a:schemeClr val="lt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-"/>
            </a:pPr>
            <a:r>
              <a:rPr lang="en" sz="2400">
                <a:solidFill>
                  <a:schemeClr val="lt2"/>
                </a:solidFill>
              </a:rPr>
              <a:t>Deploy service with a load balancer and support auto scaling</a:t>
            </a:r>
            <a:endParaRPr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2"/>
          <p:cNvSpPr txBox="1"/>
          <p:nvPr>
            <p:ph type="title"/>
          </p:nvPr>
        </p:nvSpPr>
        <p:spPr>
          <a:xfrm>
            <a:off x="1779150" y="1959900"/>
            <a:ext cx="5585700" cy="1223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Questions, Feedback &amp; </a:t>
            </a:r>
            <a:r>
              <a:rPr lang="en">
                <a:solidFill>
                  <a:schemeClr val="lt2"/>
                </a:solidFill>
              </a:rPr>
              <a:t>Recommendations</a:t>
            </a:r>
            <a:endParaRPr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